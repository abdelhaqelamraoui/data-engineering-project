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" cy="9144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45720" cy="91440"/>
          </a:xfrm>
          <a:prstGeom prst="rect">
            <a:avLst/>
          </a:prstGeom>
          <a:solidFill>
            <a:srgbClr val="0A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11277600" cy="9525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11112"/>
            <a:ext cx="600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Trending Topics Detection Pipeline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92000" y="5158000"/>
            <a:ext cx="2600000" cy="26000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2000" y="4658000"/>
            <a:ext cx="1200000" cy="1200000"/>
          </a:xfrm>
          <a:prstGeom prst="ellipse">
            <a:avLst/>
          </a:prstGeom>
          <a:solidFill>
            <a:srgbClr val="0A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0000"/>
            <a:ext cx="1900000" cy="9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10000"/>
            <a:ext cx="19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[ University Logo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8640" y="810000"/>
            <a:ext cx="6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2988D"/>
                </a:solidFill>
                <a:latin typeface="Calibri"/>
              </a:rPr>
              <a:t>[Module Name] — Data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0000"/>
            <a:ext cx="95000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31F20"/>
                </a:solidFill>
                <a:latin typeface="Calibri"/>
              </a:rPr>
              <a:t>Real-Time Trending Topics Detection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50000"/>
            <a:ext cx="1100000" cy="45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95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231F20"/>
                </a:solidFill>
                <a:latin typeface="Calibri"/>
              </a:rPr>
              <a:t>A Data Engineering Pipeline on the Bluesky Firehose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8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AUTHORS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28000"/>
            <a:ext cx="34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31F20"/>
                </a:solidFill>
                <a:latin typeface="Calibri"/>
              </a:rPr>
              <a:t>[Author Name 1]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31F20"/>
                </a:solidFill>
                <a:latin typeface="Calibri"/>
              </a:rPr>
              <a:t>[Author Name 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8640" y="5308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8640" y="5628000"/>
            <a:ext cx="34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31F20"/>
                </a:solidFill>
                <a:latin typeface="Calibri"/>
              </a:rPr>
              <a:t>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Calibri"/>
              </a:rPr>
              <a:t>Plan of the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670000"/>
            <a:ext cx="420000" cy="420000"/>
          </a:xfrm>
          <a:prstGeom prst="ellipse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640" y="1740000"/>
            <a:ext cx="1053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31F20"/>
                </a:solidFill>
                <a:latin typeface="Calibri"/>
              </a:rPr>
              <a:t>Context &amp; Problem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0000"/>
            <a:ext cx="420000" cy="420000"/>
          </a:xfrm>
          <a:prstGeom prst="ellipse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231F2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640" y="2300000"/>
            <a:ext cx="1053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31F20"/>
                </a:solidFill>
                <a:latin typeface="Calibri"/>
              </a:rPr>
              <a:t>Objectives &amp; Key Decisions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790000"/>
            <a:ext cx="420000" cy="420000"/>
          </a:xfrm>
          <a:prstGeom prst="ellipse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640" y="2860000"/>
            <a:ext cx="1053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31F20"/>
                </a:solidFill>
                <a:latin typeface="Calibri"/>
              </a:rPr>
              <a:t>System Architecture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350000"/>
            <a:ext cx="420000" cy="420000"/>
          </a:xfrm>
          <a:prstGeom prst="ellipse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231F2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8640" y="3420000"/>
            <a:ext cx="1053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31F20"/>
                </a:solidFill>
                <a:latin typeface="Calibri"/>
              </a:rPr>
              <a:t>Real-Time Pipeline &amp; Cleaning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10000"/>
            <a:ext cx="420000" cy="420000"/>
          </a:xfrm>
          <a:prstGeom prst="ellipse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640" y="3980000"/>
            <a:ext cx="1053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31F20"/>
                </a:solidFill>
                <a:latin typeface="Calibri"/>
              </a:rPr>
              <a:t>Storage, Serving &amp; Dashboard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470000"/>
            <a:ext cx="420000" cy="420000"/>
          </a:xfrm>
          <a:prstGeom prst="ellipse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231F20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640" y="4540000"/>
            <a:ext cx="1053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31F20"/>
                </a:solidFill>
                <a:latin typeface="Calibri"/>
              </a:rPr>
              <a:t>Search &amp; Exploration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030000"/>
            <a:ext cx="420000" cy="420000"/>
          </a:xfrm>
          <a:prstGeom prst="ellipse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8640" y="5100000"/>
            <a:ext cx="1053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31F20"/>
                </a:solidFill>
                <a:latin typeface="Calibri"/>
              </a:rPr>
              <a:t>Results, Engineering Rigor &amp; Conclusion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Calibri"/>
              </a:rPr>
              <a:t>The Problem We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4000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8640" y="167000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Social platforms produce a continuous, unbounded stream of public posts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5432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640" y="208432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“Frequent” is not “trending”: common words are stable, not interesting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864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640" y="249864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We need acceleration: a term's rise versus its own recent baseline, not raw counts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8296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640" y="291296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Spam, bots, and noisy/clock-skewed clients must not be mistaken for real spikes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9728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640" y="332728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All of this must happen continuously and at low latency, not as a nightly batch job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Calibri"/>
              </a:rPr>
              <a:t>Objectives &amp; Key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4000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8640" y="167000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End-to-end pipeline: ingest → clean → score → store → serve → visualize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5432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640" y="208432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Source: Bluesky Jetstream firehose — public, real-time, no authentication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864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640" y="249864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Trend score: ratio to the term's own trailing baseline (acceleration, not frequency)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8296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640" y="291296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Window: 5-minute sliding window, 1-minute slide, 2-minute watermark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9728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640" y="332728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HBase for low-latency serving; Elasticsearch/Kibana added for full-text exploration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1160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640" y="374160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Every component is its own Docker service, cleanly separated, configured by env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0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20000"/>
            <a:ext cx="17000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2988D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8640" y="2620000"/>
            <a:ext cx="934472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1F20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8640" y="3260000"/>
            <a:ext cx="934472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How the system is put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8640" y="2480000"/>
            <a:ext cx="700000" cy="30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31F20"/>
                </a:solidFill>
                <a:latin typeface="Calibri"/>
              </a:rPr>
              <a:t>Global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50000"/>
            <a:ext cx="152496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Jetstream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wss firehose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81600" y="2105000"/>
            <a:ext cx="54000" cy="11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43600" y="1850000"/>
            <a:ext cx="152496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Producer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Python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76560" y="2105000"/>
            <a:ext cx="54000" cy="11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38560" y="1850000"/>
            <a:ext cx="152496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Kafka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bluesky-posts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71520" y="2105000"/>
            <a:ext cx="54000" cy="11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33520" y="1850000"/>
            <a:ext cx="152496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Spark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Structured Streaming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66480" y="2105000"/>
            <a:ext cx="54000" cy="11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28480" y="1850000"/>
            <a:ext cx="152496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HBase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REST :8080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61440" y="2105000"/>
            <a:ext cx="54000" cy="11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23440" y="1850000"/>
            <a:ext cx="152496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API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FastAPI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056400" y="2105000"/>
            <a:ext cx="54000" cy="11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18400" y="1850000"/>
            <a:ext cx="152496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3C8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Dashboard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Next.js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446040" y="2478000"/>
            <a:ext cx="110000" cy="1114000"/>
          </a:xfrm>
          <a:prstGeom prst="downArrow">
            <a:avLst>
              <a:gd name="adj1" fmla="val 55000"/>
              <a:gd name="adj2" fmla="val 55000"/>
            </a:avLst>
          </a:prstGeom>
          <a:solidFill>
            <a:srgbClr val="0A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38560" y="3600000"/>
            <a:ext cx="152496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AF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Indexer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Python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1520" y="3855000"/>
            <a:ext cx="54000" cy="11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A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33520" y="3600000"/>
            <a:ext cx="152496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AF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Elasticsearch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single-node 8.15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866480" y="3855000"/>
            <a:ext cx="54000" cy="11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A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28480" y="3600000"/>
            <a:ext cx="1524960" cy="62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AF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Kibana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web UI :5601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540000"/>
            <a:ext cx="2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2988D"/>
                </a:solidFill>
                <a:latin typeface="Calibri"/>
              </a:rPr>
              <a:t>Trending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040" y="4280000"/>
            <a:ext cx="24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AF0F4"/>
                </a:solidFill>
                <a:latin typeface="Calibri"/>
              </a:rPr>
              <a:t>Search &amp; exploration (additive)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2000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640" y="465000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231F20"/>
                </a:solidFill>
                <a:latin typeface="Calibri"/>
              </a:rPr>
              <a:t>One Kafka topic, two independent downstream readers — neither blocks the other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5003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640" y="498003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231F20"/>
                </a:solidFill>
                <a:latin typeface="Calibri"/>
              </a:rPr>
              <a:t>Trending pipeline (teal): scores and ranks terms, served by HBase + the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8006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640" y="531006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231F20"/>
                </a:solidFill>
                <a:latin typeface="Calibri"/>
              </a:rPr>
              <a:t>Search branch (cyan): indexes raw posts for full-text search, additive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50000"/>
            <a:ext cx="3618240" cy="973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231F20"/>
                </a:solidFill>
              </a:rPr>
              <a:t>Python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Producer, Indexer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6880" y="1850000"/>
            <a:ext cx="3618240" cy="973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AF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231F20"/>
                </a:solidFill>
              </a:rPr>
              <a:t>Apache Kafka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Ingestion &amp; buffering (KRaft)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5120" y="1850000"/>
            <a:ext cx="3618240" cy="973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3C8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231F20"/>
                </a:solidFill>
              </a:rPr>
              <a:t>Apache Spark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Structured Streaming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3333"/>
            <a:ext cx="3618240" cy="973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231F20"/>
                </a:solidFill>
              </a:rPr>
              <a:t>Apache HBase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Low-latency serving store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6880" y="2963333"/>
            <a:ext cx="3618240" cy="973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AF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231F20"/>
                </a:solidFill>
              </a:rPr>
              <a:t>FastAPI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5120" y="2963333"/>
            <a:ext cx="3618240" cy="973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3C8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231F20"/>
                </a:solidFill>
              </a:rPr>
              <a:t>Next.js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Dashboard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76666"/>
            <a:ext cx="3618240" cy="973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231F20"/>
                </a:solidFill>
              </a:rPr>
              <a:t>Elasticsearch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Full-text search index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6880" y="4076666"/>
            <a:ext cx="3618240" cy="973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AF0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231F20"/>
                </a:solidFill>
              </a:rPr>
              <a:t>Kibana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Exploration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5120" y="4076666"/>
            <a:ext cx="3618240" cy="97333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3C8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/>
          <a:lstStyle/>
          <a:p>
            <a:pPr algn="ctr"/>
            <a:r>
              <a:rPr sz="1300" b="1">
                <a:solidFill>
                  <a:srgbClr val="231F20"/>
                </a:solidFill>
              </a:rPr>
              <a:t>Docker Compose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9 containers, 1 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0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20000"/>
            <a:ext cx="17000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2988D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8640" y="2620000"/>
            <a:ext cx="934472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1F20"/>
                </a:solidFill>
                <a:latin typeface="Calibri"/>
              </a:rPr>
              <a:t>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8640" y="3260000"/>
            <a:ext cx="934472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Ingestion, cleaning, windowing, and scoring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8640" y="2480000"/>
            <a:ext cx="700000" cy="30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REAL-TIME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Calibri"/>
              </a:rPr>
              <a:t>Ingestion: Firehose to Kafka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4000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8640" y="167000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Producer opens a WebSocket to the Bluesky Jetstream firehose (no auth required)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5432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640" y="208432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Keeps only post-creation events, filtered to English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864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640" y="249864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Reconnects automatically with exponential backoff, resuming from its last cursor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8296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640" y="291296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Publishes each surviving post as a small JSON record to Kafka topic bluesky-posts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REAL-TIME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31F20"/>
                </a:solidFill>
                <a:latin typeface="Calibri"/>
              </a:rPr>
              <a:t>Real-Time Cleaning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00000"/>
            <a:ext cx="1799120" cy="9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Raw post text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from Kafka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53760" y="2595000"/>
            <a:ext cx="48000" cy="11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07760" y="2200000"/>
            <a:ext cx="1799120" cy="9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Lowercase +
strip URLs/mentions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regex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12880" y="2595000"/>
            <a:ext cx="48000" cy="11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6880" y="2200000"/>
            <a:ext cx="1799120" cy="9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Extract hashtags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#word -&gt; term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72000" y="2595000"/>
            <a:ext cx="48000" cy="11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000" y="2200000"/>
            <a:ext cx="1799120" cy="9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Strip punctuation
&amp; apostrophes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don't -&gt; dont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931120" y="2595000"/>
            <a:ext cx="48000" cy="11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85120" y="2200000"/>
            <a:ext cx="1799120" cy="9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Filter stopwords
&amp; short words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len &gt;= 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790240" y="2595000"/>
            <a:ext cx="48000" cy="1100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44240" y="2200000"/>
            <a:ext cx="1799120" cy="900000"/>
          </a:xfrm>
          <a:prstGeom prst="roundRect">
            <a:avLst>
              <a:gd name="adj" fmla="val 10000"/>
            </a:avLst>
          </a:prstGeom>
          <a:solidFill>
            <a:srgbClr val="F3C816"/>
          </a:solidFill>
          <a:ln w="19050">
            <a:solidFill>
              <a:srgbClr val="F3C8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30000" bIns="30000"/>
          <a:lstStyle/>
          <a:p>
            <a:pPr algn="ctr"/>
            <a:r>
              <a:rPr sz="1100" b="1">
                <a:solidFill>
                  <a:srgbClr val="231F20"/>
                </a:solidFill>
              </a:rPr>
              <a:t>Terms</a:t>
            </a:r>
          </a:p>
          <a:p>
            <a:pPr algn="ctr"/>
            <a:r>
              <a:rPr sz="800">
                <a:solidFill>
                  <a:srgbClr val="6B7280"/>
                </a:solidFill>
              </a:rPr>
              <a:t>hashtags + 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00000"/>
            <a:ext cx="110947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02988D"/>
                </a:solidFill>
                <a:latin typeface="Calibri"/>
              </a:rPr>
              <a:t>One shared, pure-Python module — reused as-is by 3 independent services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REAL-TIME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31F20"/>
                </a:solidFill>
                <a:latin typeface="Calibri"/>
              </a:rPr>
              <a:t>Cleaning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00000"/>
            <a:ext cx="5417360" cy="17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26000" y="1900000"/>
            <a:ext cx="5417360" cy="17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298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640" y="2030000"/>
            <a:ext cx="505736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  <a:latin typeface="Calibri"/>
              </a:rPr>
              <a:t>BEFORE · RAW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640" y="2350000"/>
            <a:ext cx="5057360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1F20"/>
                </a:solidFill>
                <a:latin typeface="Calibri"/>
              </a:rPr>
              <a:t>Just published my research on #DataEngineering 🚀 Check it out at https://example.com/article cc @johndoe isn't this exciting??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6000" y="2030000"/>
            <a:ext cx="505736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2988D"/>
                </a:solidFill>
                <a:latin typeface="Calibri"/>
              </a:rPr>
              <a:t>AFTER · CLEANED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6000" y="2350000"/>
            <a:ext cx="505736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1F20"/>
                </a:solidFill>
                <a:latin typeface="Calibri"/>
              </a:rPr>
              <a:t>just published my research on check it out at cc isnt this exciting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6000" y="3350000"/>
            <a:ext cx="1160000" cy="330000"/>
          </a:xfrm>
          <a:prstGeom prst="roundRect">
            <a:avLst>
              <a:gd name="adj" fmla="val 50000"/>
            </a:avLst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" rIns="100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#dataengineering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6000" y="3350000"/>
            <a:ext cx="660000" cy="3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" rIns="10000"/>
          <a:lstStyle/>
          <a:p>
            <a:pPr algn="ctr"/>
            <a:r>
              <a:rPr sz="1000">
                <a:solidFill>
                  <a:srgbClr val="231F20"/>
                </a:solidFill>
              </a:rPr>
              <a:t>published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000" y="3350000"/>
            <a:ext cx="600000" cy="3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" rIns="10000"/>
          <a:lstStyle/>
          <a:p>
            <a:pPr algn="ctr"/>
            <a:r>
              <a:rPr sz="1000">
                <a:solidFill>
                  <a:srgbClr val="231F20"/>
                </a:solidFill>
              </a:rPr>
              <a:t>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6000" y="3350000"/>
            <a:ext cx="420000" cy="3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" rIns="10000"/>
          <a:lstStyle/>
          <a:p>
            <a:pPr algn="ctr"/>
            <a:r>
              <a:rPr sz="1000">
                <a:solidFill>
                  <a:srgbClr val="231F20"/>
                </a:solidFill>
              </a:rPr>
              <a:t>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26000" y="3350000"/>
            <a:ext cx="600000" cy="33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" rIns="10000"/>
          <a:lstStyle/>
          <a:p>
            <a:pPr algn="ctr"/>
            <a:r>
              <a:rPr sz="1000">
                <a:solidFill>
                  <a:srgbClr val="231F20"/>
                </a:solidFill>
              </a:rPr>
              <a:t>exciting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50000"/>
            <a:ext cx="110947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02988D"/>
                </a:solidFill>
                <a:latin typeface="Calibri"/>
              </a:rPr>
              <a:t>Same input → same output on spark-processor, api, and indexer — by construction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REAL-TIME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31F20"/>
                </a:solidFill>
                <a:latin typeface="Calibri"/>
              </a:rPr>
              <a:t>Windowing &amp; Trend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00000"/>
            <a:ext cx="11094720" cy="70000"/>
          </a:xfrm>
          <a:prstGeom prst="rect">
            <a:avLst/>
          </a:prstGeom>
          <a:solidFill>
            <a:srgbClr val="E3E6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725000"/>
            <a:ext cx="3550310" cy="420000"/>
          </a:xfrm>
          <a:prstGeom prst="roundRect">
            <a:avLst>
              <a:gd name="adj" fmla="val 15000"/>
            </a:avLst>
          </a:prstGeom>
          <a:solidFill>
            <a:srgbClr val="02988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window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443" y="1815000"/>
            <a:ext cx="3550310" cy="420000"/>
          </a:xfrm>
          <a:prstGeom prst="roundRect">
            <a:avLst>
              <a:gd name="adj" fmla="val 15000"/>
            </a:avLst>
          </a:prstGeom>
          <a:solidFill>
            <a:srgbClr val="0AF0F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window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8246" y="1905000"/>
            <a:ext cx="3550310" cy="420000"/>
          </a:xfrm>
          <a:prstGeom prst="roundRect">
            <a:avLst>
              <a:gd name="adj" fmla="val 15000"/>
            </a:avLst>
          </a:prstGeom>
          <a:solidFill>
            <a:srgbClr val="F3C81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31F20"/>
                </a:solidFill>
              </a:rPr>
              <a:t>window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80000"/>
            <a:ext cx="110947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5-minute window  ·  1-minute slide  ·  2-minute watermark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5689" y="3020000"/>
            <a:ext cx="7100620" cy="900000"/>
          </a:xfrm>
          <a:prstGeom prst="roundRect">
            <a:avLst>
              <a:gd name="adj" fmla="val 12000"/>
            </a:avLst>
          </a:prstGeom>
          <a:solidFill>
            <a:srgbClr val="231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3C816"/>
                </a:solidFill>
                <a:latin typeface="Consolas"/>
              </a:rPr>
              <a:t>score = count / (baseline_avg + smoothing)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40000"/>
            <a:ext cx="110947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Ratio to the term's own trailing baseline (EMA) - acceleration, not raw frequency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0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20000"/>
            <a:ext cx="17000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2988D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8640" y="2620000"/>
            <a:ext cx="934472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1F20"/>
                </a:solidFill>
                <a:latin typeface="Calibri"/>
              </a:rPr>
              <a:t>Storage, Serving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8640" y="3260000"/>
            <a:ext cx="934472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From ranked terms to a live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8640" y="2480000"/>
            <a:ext cx="700000" cy="30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Calibri"/>
              </a:rPr>
              <a:t>HBase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50000"/>
          <a:ext cx="11094718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155"/>
                <a:gridCol w="2662732"/>
                <a:gridCol w="3106521"/>
                <a:gridCol w="1775155"/>
                <a:gridCol w="1775155"/>
              </a:tblGrid>
              <a:tr h="36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 marT="40000" marB="40000" anchor="ctr"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Row key</a:t>
                      </a:r>
                    </a:p>
                  </a:txBody>
                  <a:tcPr marT="40000" marB="40000" anchor="ctr"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Columns</a:t>
                      </a:r>
                    </a:p>
                  </a:txBody>
                  <a:tcPr marT="40000" marB="40000" anchor="ctr"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Written by</a:t>
                      </a:r>
                    </a:p>
                  </a:txBody>
                  <a:tcPr marT="40000" marB="40000" anchor="ctr">
                    <a:solidFill>
                      <a:srgbClr val="231F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Read by</a:t>
                      </a:r>
                    </a:p>
                  </a:txBody>
                  <a:tcPr marT="40000" marB="40000" anchor="ctr">
                    <a:solidFill>
                      <a:srgbClr val="231F20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31F20"/>
                          </a:solidFill>
                        </a:rPr>
                        <a:t>trends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bucket#rank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rank, term, count, score, distinct_authors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spark-processor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api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31F20"/>
                          </a:solidFill>
                        </a:rPr>
                        <a:t>term_history</a:t>
                      </a:r>
                    </a:p>
                  </a:txBody>
                  <a:tcPr marT="30000" marB="30000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term#bucket</a:t>
                      </a:r>
                    </a:p>
                  </a:txBody>
                  <a:tcPr marT="30000" marB="30000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count, score</a:t>
                      </a:r>
                    </a:p>
                  </a:txBody>
                  <a:tcPr marT="30000" marB="30000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spark-processor</a:t>
                      </a:r>
                    </a:p>
                  </a:txBody>
                  <a:tcPr marT="30000" marB="30000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api</a:t>
                      </a:r>
                    </a:p>
                  </a:txBody>
                  <a:tcPr marT="30000" marB="30000" anchor="ctr">
                    <a:solidFill>
                      <a:srgbClr val="F7F8F9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31F20"/>
                          </a:solidFill>
                        </a:rPr>
                        <a:t>term_baseline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t#term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avg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spark-processor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spark-processor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31F20"/>
                          </a:solidFill>
                        </a:rPr>
                        <a:t>pipeline_meta</a:t>
                      </a:r>
                    </a:p>
                  </a:txBody>
                  <a:tcPr marT="30000" marB="30000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latest_bucket</a:t>
                      </a:r>
                    </a:p>
                  </a:txBody>
                  <a:tcPr marT="30000" marB="30000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value, updated_at</a:t>
                      </a:r>
                    </a:p>
                  </a:txBody>
                  <a:tcPr marT="30000" marB="30000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spark-processor</a:t>
                      </a:r>
                    </a:p>
                  </a:txBody>
                  <a:tcPr marT="30000" marB="30000" anchor="ctr">
                    <a:solidFill>
                      <a:srgbClr val="F7F8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31F20"/>
                          </a:solidFill>
                        </a:rPr>
                        <a:t>api</a:t>
                      </a:r>
                    </a:p>
                  </a:txBody>
                  <a:tcPr marT="30000" marB="30000" anchor="ctr"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50000"/>
            <a:ext cx="110947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TTL on trends/term_history enforces 24h retention automatically — no cleanup job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SERVING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31F20"/>
                </a:solidFill>
                <a:latin typeface="Calibri"/>
              </a:rPr>
              <a:t>REST API &amp;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640" y="1832000"/>
            <a:ext cx="5433360" cy="243482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-tr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0000"/>
            <a:ext cx="5397360" cy="23988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328826"/>
            <a:ext cx="539736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2988D"/>
                </a:solidFill>
                <a:latin typeface="Calibri"/>
              </a:rPr>
              <a:t>Trending 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8000" y="1832000"/>
            <a:ext cx="5433360" cy="340935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shboard-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000" y="1850000"/>
            <a:ext cx="5397360" cy="33733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46000" y="5303350"/>
            <a:ext cx="539736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2988D"/>
                </a:solidFill>
                <a:latin typeface="Calibri"/>
              </a:rPr>
              <a:t>Live Posts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0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20000"/>
            <a:ext cx="17000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2988D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8640" y="2620000"/>
            <a:ext cx="934472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1F20"/>
                </a:solidFill>
                <a:latin typeface="Calibri"/>
              </a:rPr>
              <a:t>Search &amp;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8640" y="3260000"/>
            <a:ext cx="934472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Elasticsearch + Kibana, additive to the trending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8640" y="2480000"/>
            <a:ext cx="700000" cy="30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SEARCH &amp;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Calibri"/>
              </a:rPr>
              <a:t>Kibana: Full-Text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7600" y="1732000"/>
            <a:ext cx="7056800" cy="44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ibana-dis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600" y="1750000"/>
            <a:ext cx="7020800" cy="438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98000"/>
            <a:ext cx="1109472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Full-text search, faceting on hashtags/words/lang, post-volume histogram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00000"/>
            <a:ext cx="12192000" cy="2058000"/>
          </a:xfrm>
          <a:prstGeom prst="rect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20000"/>
            <a:ext cx="1700000" cy="1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02988D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8640" y="2620000"/>
            <a:ext cx="934472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31F20"/>
                </a:solidFill>
                <a:latin typeface="Calibri"/>
              </a:rPr>
              <a:t>Engineering Rigor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8640" y="3260000"/>
            <a:ext cx="934472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What broke, what we learned, what we shipped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98640" y="2480000"/>
            <a:ext cx="700000" cy="30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ENGINEERING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31F20"/>
                </a:solidFill>
                <a:latin typeface="Calibri"/>
              </a:rPr>
              <a:t>Real Issues Found &amp; Fixed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50000"/>
            <a:ext cx="3551573" cy="3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50000"/>
            <a:ext cx="3551573" cy="70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8640" y="2070000"/>
            <a:ext cx="3191573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31F20"/>
                </a:solidFill>
                <a:latin typeface="Calibri"/>
              </a:rPr>
              <a:t>Watermark poisoning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640" y="2670000"/>
            <a:ext cx="3191573" cy="1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A clock-skewed client posted a timestamp ~6.5h in the future, permanently advancing Spark's watermark and silently dropping all later events.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640" y="4500000"/>
            <a:ext cx="3191573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2988D"/>
                </a:solidFill>
                <a:latin typeface="Calibri"/>
              </a:rPr>
              <a:t>Fixed: reject events whose timestamp is implausibly far in the future.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213" y="1850000"/>
            <a:ext cx="3551573" cy="3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0213" y="1850000"/>
            <a:ext cx="3551573" cy="70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0213" y="2070000"/>
            <a:ext cx="3191573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31F20"/>
                </a:solidFill>
                <a:latin typeface="Calibri"/>
              </a:rPr>
              <a:t>HBase pagination 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213" y="2670000"/>
            <a:ext cx="3191573" cy="1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HBase REST's scanner caps cells per page, not rows — a 5-column row could be split across pages and returned incomplete.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213" y="4500000"/>
            <a:ext cx="3191573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2988D"/>
                </a:solidFill>
                <a:latin typeface="Calibri"/>
              </a:rPr>
              <a:t>Fixed: merge cells by row key across pages before truncating to the limit.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786" y="1850000"/>
            <a:ext cx="3551573" cy="3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1786" y="1850000"/>
            <a:ext cx="3551573" cy="70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1786" y="2070000"/>
            <a:ext cx="3191573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31F20"/>
                </a:solidFill>
                <a:latin typeface="Calibri"/>
              </a:rPr>
              <a:t>Sequential bottleneck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1786" y="2670000"/>
            <a:ext cx="3191573" cy="1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One HTTP call per candidate term made large windows (5000+ terms) fall behind their 30s trigger under real load.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1786" y="4500000"/>
            <a:ext cx="3191573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2988D"/>
                </a:solidFill>
                <a:latin typeface="Calibri"/>
              </a:rPr>
              <a:t>Fixed: batched multiget/multi-row PUT — verified at 5241 candidates, zero restarts.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Calibri"/>
              </a:rPr>
              <a:t>Project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50000"/>
            <a:ext cx="260868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8640" y="1950000"/>
            <a:ext cx="236868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2988D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8640" y="2430000"/>
            <a:ext cx="236868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Dockerized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7320" y="1850000"/>
            <a:ext cx="260868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7320" y="1950000"/>
            <a:ext cx="236868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2988D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7320" y="2430000"/>
            <a:ext cx="236868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Independent Kafka consumers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6000" y="1850000"/>
            <a:ext cx="260868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6000" y="1950000"/>
            <a:ext cx="236868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2988D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6000" y="2430000"/>
            <a:ext cx="236868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Real bugs found in production-like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34680" y="1850000"/>
            <a:ext cx="260868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4680" y="1950000"/>
            <a:ext cx="236868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2988D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4680" y="2430000"/>
            <a:ext cx="236868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Configured via .env files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2000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640" y="305000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231F20"/>
                </a:solidFill>
                <a:latin typeface="Calibri"/>
              </a:rPr>
              <a:t>Every service: its own Dockerfile, its own .env, clean separation of concerns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17175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640" y="3447175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231F20"/>
                </a:solidFill>
                <a:latin typeface="Calibri"/>
              </a:rPr>
              <a:t>Shared preprocessing module vendored at build time into 3 services from one source 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1435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640" y="384435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 i="0">
                <a:solidFill>
                  <a:srgbClr val="231F20"/>
                </a:solidFill>
                <a:latin typeface="Calibri"/>
              </a:rPr>
              <a:t>Verified against the real, live Bluesky firehose throughout — not just unit tests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20000"/>
            <a:ext cx="1109472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2988D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0000"/>
            <a:ext cx="1109472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31F20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0000"/>
            <a:ext cx="900000" cy="36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4000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8640" y="167000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Built a complete, real-time trending-detection pipeline on a live public data 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5432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640" y="208432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Acceleration-based scoring (ratio to baseline) surfaces real spikes, not just frequent words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864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640" y="249864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Clean separation of services, shared rules vendored from one source, fully containerized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8296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640" y="291296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Hardened by real engineering issues found and fixed under real load, not just in theory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97280"/>
            <a:ext cx="70000" cy="70000"/>
          </a:xfrm>
          <a:prstGeom prst="rect">
            <a:avLst/>
          </a:prstGeom>
          <a:solidFill>
            <a:srgbClr val="029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640" y="3327280"/>
            <a:ext cx="109047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231F20"/>
                </a:solidFill>
                <a:latin typeface="Calibri"/>
              </a:rPr>
              <a:t>Extensible: the same architecture pattern (independent Kafka consumers) added Kibana search without touching the existing trending path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00000" y="150000"/>
            <a:ext cx="2600000" cy="26000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92000" y="5158000"/>
            <a:ext cx="2600000" cy="26000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00000"/>
            <a:ext cx="1109472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231F20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6000" y="3550000"/>
            <a:ext cx="900000" cy="40000"/>
          </a:xfrm>
          <a:prstGeom prst="rect">
            <a:avLst/>
          </a:prstGeom>
          <a:solidFill>
            <a:srgbClr val="F3C8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00000"/>
            <a:ext cx="1109472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02988D"/>
                </a:solidFill>
                <a:latin typeface="Calibri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600" y="6611112"/>
            <a:ext cx="457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31F20"/>
      </a:dk1>
      <a:lt1>
        <a:srgbClr val="FFFFFF"/>
      </a:lt1>
      <a:dk2>
        <a:srgbClr val="000000"/>
      </a:dk2>
      <a:lt2>
        <a:srgbClr val="F7F8F9"/>
      </a:lt2>
      <a:accent1>
        <a:srgbClr val="02988D"/>
      </a:accent1>
      <a:accent2>
        <a:srgbClr val="F3C816"/>
      </a:accent2>
      <a:accent3>
        <a:srgbClr val="0AF0F4"/>
      </a:accent3>
      <a:accent4>
        <a:srgbClr val="231F20"/>
      </a:accent4>
      <a:accent5>
        <a:srgbClr val="000000"/>
      </a:accent5>
      <a:accent6>
        <a:srgbClr val="02988D"/>
      </a:accent6>
      <a:hlink>
        <a:srgbClr val="02988D"/>
      </a:hlink>
      <a:folHlink>
        <a:srgbClr val="231F2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